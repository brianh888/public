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Playfair Display" panose="00000500000000000000" pitchFamily="2" charset="0"/>
      <p:regular r:id="rId8"/>
      <p:bold r:id="rId9"/>
      <p:italic r:id="rId10"/>
      <p:boldItalic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937545"/>
            <a:ext cx="1066800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520279"/>
            <a:ext cx="1120140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Forecasting National Unemployment Rates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051720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A3E0"/>
                </a:solidFill>
                <a:latin typeface="Roboto Light"/>
                <a:ea typeface="Roboto Light"/>
                <a:cs typeface="Roboto Light"/>
                <a:sym typeface="Roboto Light"/>
              </a:rPr>
              <a:t>Time Series Analysis using SARIMA Models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328070"/>
            <a:ext cx="34671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A3E0"/>
                </a:solidFill>
                <a:latin typeface="Roboto"/>
                <a:ea typeface="Roboto"/>
                <a:cs typeface="Roboto"/>
                <a:sym typeface="Roboto"/>
              </a:rPr>
              <a:t>OBJECTIVE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651920"/>
            <a:ext cx="330204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DDDDD"/>
                </a:solidFill>
                <a:latin typeface="Roboto Light"/>
                <a:ea typeface="Roboto Light"/>
                <a:cs typeface="Roboto Light"/>
                <a:sym typeface="Roboto Light"/>
              </a:rPr>
              <a:t>Predict future unemployment trends for UK, France, and Germany to assist in planning.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4445049" y="4328070"/>
            <a:ext cx="34671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A3E0"/>
                </a:solidFill>
                <a:latin typeface="Roboto"/>
                <a:ea typeface="Roboto"/>
                <a:cs typeface="Roboto"/>
                <a:sym typeface="Roboto"/>
              </a:rPr>
              <a:t>CONTEXT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445049" y="4651920"/>
            <a:ext cx="330204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DDDDD"/>
                </a:solidFill>
                <a:latin typeface="Roboto Light"/>
                <a:ea typeface="Roboto Light"/>
                <a:cs typeface="Roboto Light"/>
                <a:sym typeface="Roboto Light"/>
              </a:rPr>
              <a:t>Unemployment rates are critical economic indicators requiring accurate forecasting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8128099" y="4328070"/>
            <a:ext cx="34671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A3E0"/>
                </a:solidFill>
                <a:latin typeface="Roboto"/>
                <a:ea typeface="Roboto"/>
                <a:cs typeface="Roboto"/>
                <a:sym typeface="Roboto"/>
              </a:rPr>
              <a:t>APPROACH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128099" y="4651920"/>
            <a:ext cx="330204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DDDDD"/>
                </a:solidFill>
                <a:latin typeface="Roboto Light"/>
                <a:ea typeface="Roboto Light"/>
                <a:cs typeface="Roboto Light"/>
                <a:sym typeface="Roboto Light"/>
              </a:rPr>
              <a:t>Application of SARIMA models on historical monthly data to account for trends and seasonality.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38325"/>
            <a:ext cx="3492549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838325"/>
            <a:ext cx="3492549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838325"/>
            <a:ext cx="3492549" cy="44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3810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B4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100965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FRAMEWORK: STATSMODELS &amp; PMDARIMA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200150" y="2124075"/>
            <a:ext cx="270705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B49"/>
                </a:solidFill>
                <a:latin typeface="Roboto"/>
                <a:ea typeface="Roboto"/>
                <a:cs typeface="Roboto"/>
                <a:sym typeface="Roboto"/>
              </a:rPr>
              <a:t>1. Pre-processing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064174" y="2124075"/>
            <a:ext cx="261704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B49"/>
                </a:solidFill>
                <a:latin typeface="Roboto"/>
                <a:ea typeface="Roboto"/>
                <a:cs typeface="Roboto"/>
                <a:sym typeface="Roboto"/>
              </a:rPr>
              <a:t>2. Model Selection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756749" y="2124075"/>
            <a:ext cx="270705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B49"/>
                </a:solidFill>
                <a:latin typeface="Roboto"/>
                <a:ea typeface="Roboto"/>
                <a:cs typeface="Roboto"/>
                <a:sym typeface="Roboto"/>
              </a:rPr>
              <a:t>3. Validation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214312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143000" y="2581275"/>
            <a:ext cx="2635299" cy="1745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Ingestion:</a:t>
            </a:r>
            <a:r>
              <a:rPr lang="en-US" sz="13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Loaded historical unemployment rate data for UK, FR, and DE. </a:t>
            </a:r>
          </a:p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Data sourced from Office of National Statistics (UK) and Eurostat (France and Germany)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1143000" y="4486874"/>
            <a:ext cx="2635299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Stationarity Check:</a:t>
            </a:r>
            <a:r>
              <a:rPr lang="en-US" sz="13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Applied Augmented Dickey-Fuller (ADF) test.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1143000" y="5349482"/>
            <a:ext cx="2635299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Result:</a:t>
            </a:r>
            <a:r>
              <a:rPr lang="en-US" sz="13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All data non-stationary (p &gt; 0.05), requiring differencing.</a:t>
            </a:r>
            <a:endParaRPr dirty="0"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3174" y="21431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4921299" y="2581275"/>
            <a:ext cx="263529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Split:</a:t>
            </a:r>
            <a:r>
              <a:rPr lang="en-US" sz="13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Training (95%) and Test (5%) sets. Considered period from  Jan 1997 to Sep 2025, a period of 345 months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4921299" y="3689744"/>
            <a:ext cx="2635299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Auto-ARIMA:</a:t>
            </a:r>
            <a:r>
              <a:rPr lang="en-US" sz="13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Stepwise search for optimal parameters, using stepwise AIC </a:t>
            </a:r>
            <a:r>
              <a:rPr lang="en-US" sz="13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optimisation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4921299" y="4605337"/>
            <a:ext cx="2635299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Parameters:</a:t>
            </a:r>
            <a:r>
              <a:rPr lang="en-US" sz="13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Order (</a:t>
            </a:r>
            <a:r>
              <a:rPr lang="en-US" sz="13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p,d,q</a:t>
            </a:r>
            <a:r>
              <a:rPr lang="en-US" sz="13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) and Seasonal Order (</a:t>
            </a:r>
            <a:r>
              <a:rPr lang="en-US" sz="13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P,D,Q,m</a:t>
            </a:r>
            <a:r>
              <a:rPr lang="en-US" sz="13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) with m=12.</a:t>
            </a:r>
            <a:endParaRPr dirty="0"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1474" y="214312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8699599" y="2581275"/>
            <a:ext cx="2635299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Generated in-sample "fitted" values.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699599" y="3203971"/>
            <a:ext cx="2635299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Produced out-of-sample "forecasts" for the test period.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699599" y="3826668"/>
            <a:ext cx="2635299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Compared predictions against actual reported rates.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52500" y="2581275"/>
            <a:ext cx="57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A3E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52500" y="5372706"/>
            <a:ext cx="57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A3E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 dirty="0"/>
          </a:p>
        </p:txBody>
      </p:sp>
      <p:sp>
        <p:nvSpPr>
          <p:cNvPr id="120" name="Google Shape;120;p14"/>
          <p:cNvSpPr txBox="1"/>
          <p:nvPr/>
        </p:nvSpPr>
        <p:spPr>
          <a:xfrm>
            <a:off x="952500" y="4477945"/>
            <a:ext cx="57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A3E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4730799" y="2581275"/>
            <a:ext cx="57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A3E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4730799" y="3689744"/>
            <a:ext cx="57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A3E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4730799" y="4605337"/>
            <a:ext cx="57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A3E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509099" y="2581275"/>
            <a:ext cx="57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A3E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8509099" y="3203971"/>
            <a:ext cx="57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A3E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509099" y="3826668"/>
            <a:ext cx="57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A3E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" name="Text 15">
            <a:extLst>
              <a:ext uri="{FF2B5EF4-FFF2-40B4-BE49-F238E27FC236}">
                <a16:creationId xmlns:a16="http://schemas.microsoft.com/office/drawing/2014/main" id="{57E9FBAF-4BCF-F90A-F4C1-97327BA05602}"/>
              </a:ext>
            </a:extLst>
          </p:cNvPr>
          <p:cNvSpPr/>
          <p:nvPr/>
        </p:nvSpPr>
        <p:spPr>
          <a:xfrm>
            <a:off x="6960810" y="466725"/>
            <a:ext cx="2876134" cy="276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SARIMA FRAMEWORK</a:t>
            </a:r>
            <a:endParaRPr lang="en-US" sz="1800" dirty="0"/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C91FC2CD-4C60-B792-2DD0-E55B18D3CB2D}"/>
              </a:ext>
            </a:extLst>
          </p:cNvPr>
          <p:cNvSpPr/>
          <p:nvPr/>
        </p:nvSpPr>
        <p:spPr>
          <a:xfrm>
            <a:off x="6741258" y="838352"/>
            <a:ext cx="4224397" cy="28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SARIMA(p,d,q)(P,D,Q)m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571500" y="3810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B4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Historical Data &amp; Forecasts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100965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VISUAL ANALYSIS OF UNEMPLOYMENT TRENDS</a:t>
            </a:r>
            <a:endParaRPr/>
          </a:p>
        </p:txBody>
      </p:sp>
      <p:pic>
        <p:nvPicPr>
          <p:cNvPr id="3" name="Picture 2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69ED7055-E773-0CDB-A313-ACFEFCAA7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44" y="1593176"/>
            <a:ext cx="10596293" cy="52648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571500" y="3810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B4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Evaluation: Goodness of Fit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100965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METRIC: ROOT MEAN SQUARED ERROR (RMSE) - LOWER IS BETTER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521621" y="4772497"/>
            <a:ext cx="880110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Key Insights: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All models show lower out-of-sample RMSE than in sample, positive for future forecasting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Model for UK </a:t>
            </a:r>
            <a:r>
              <a:rPr lang="en-US" sz="1500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achieved closest fit on training dataset, although the out-of-sample fit for the testing period (of about 1.5 years) was not as close as for France and Germany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EBF123-E7EA-0609-BFDB-F216567A0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970520"/>
              </p:ext>
            </p:extLst>
          </p:nvPr>
        </p:nvGraphicFramePr>
        <p:xfrm>
          <a:off x="1507332" y="1695609"/>
          <a:ext cx="8751095" cy="27635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50219">
                  <a:extLst>
                    <a:ext uri="{9D8B030D-6E8A-4147-A177-3AD203B41FA5}">
                      <a16:colId xmlns:a16="http://schemas.microsoft.com/office/drawing/2014/main" val="1565177864"/>
                    </a:ext>
                  </a:extLst>
                </a:gridCol>
                <a:gridCol w="1750219">
                  <a:extLst>
                    <a:ext uri="{9D8B030D-6E8A-4147-A177-3AD203B41FA5}">
                      <a16:colId xmlns:a16="http://schemas.microsoft.com/office/drawing/2014/main" val="474198113"/>
                    </a:ext>
                  </a:extLst>
                </a:gridCol>
                <a:gridCol w="1750219">
                  <a:extLst>
                    <a:ext uri="{9D8B030D-6E8A-4147-A177-3AD203B41FA5}">
                      <a16:colId xmlns:a16="http://schemas.microsoft.com/office/drawing/2014/main" val="2675278934"/>
                    </a:ext>
                  </a:extLst>
                </a:gridCol>
                <a:gridCol w="1750219">
                  <a:extLst>
                    <a:ext uri="{9D8B030D-6E8A-4147-A177-3AD203B41FA5}">
                      <a16:colId xmlns:a16="http://schemas.microsoft.com/office/drawing/2014/main" val="207560678"/>
                    </a:ext>
                  </a:extLst>
                </a:gridCol>
                <a:gridCol w="1750219">
                  <a:extLst>
                    <a:ext uri="{9D8B030D-6E8A-4147-A177-3AD203B41FA5}">
                      <a16:colId xmlns:a16="http://schemas.microsoft.com/office/drawing/2014/main" val="518020079"/>
                    </a:ext>
                  </a:extLst>
                </a:gridCol>
              </a:tblGrid>
              <a:tr h="690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Country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Model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</a:rPr>
                        <a:t>In-Sample RMSE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</a:rPr>
                        <a:t>Out-of-Sample RMSE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</a:rPr>
                        <a:t>RMSE Ratio (Out/In)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604972982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UK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SARIMA(1, 1, 3)x(0, 0, 2, 12)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0.0042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0.0025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0.59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593389291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France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SARIMA(0, 1, 1)x(0, 0, 0, 12)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0.0062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0.0015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0.24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505180615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Germany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SARIMA(1, 1, 2)x(0, 0, 0, 12)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0.0053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0.0012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0.22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41875833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23997"/>
            <a:ext cx="110490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28922"/>
            <a:ext cx="110490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133847"/>
            <a:ext cx="11049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3810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B4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Observations &amp; Conclusion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100965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KEY FRAMEWORK TAKEAWAYS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7984" y="189547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1645592" y="1714497"/>
            <a:ext cx="1017361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2B49"/>
                </a:solidFill>
                <a:latin typeface="Roboto"/>
                <a:ea typeface="Roboto"/>
                <a:cs typeface="Roboto"/>
                <a:sym typeface="Roboto"/>
              </a:rPr>
              <a:t>Non-Stationarity Confirmed</a:t>
            </a:r>
            <a:endParaRPr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1645592" y="2000247"/>
            <a:ext cx="968915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ADF tests successfully identified non-stationary data, validating the need for Integrated (I) models and differencing for all regions.</a:t>
            </a:r>
            <a:endParaRPr/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3519" y="3200397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598562" y="3019422"/>
            <a:ext cx="1022299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B49"/>
                </a:solidFill>
                <a:latin typeface="Roboto"/>
                <a:ea typeface="Roboto"/>
                <a:cs typeface="Roboto"/>
                <a:sym typeface="Roboto"/>
              </a:rPr>
              <a:t>Seasonality is Key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598562" y="3305172"/>
            <a:ext cx="973618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Auto-ARIMA selected seasonal parameters suggesting seasonality in unemployment patterns</a:t>
            </a:r>
            <a:endParaRPr dirty="0"/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4434" y="450532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1582789" y="4388643"/>
            <a:ext cx="1030706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002B49"/>
                </a:solidFill>
                <a:latin typeface="Roboto"/>
                <a:ea typeface="Roboto"/>
                <a:cs typeface="Roboto"/>
                <a:sym typeface="Roboto"/>
              </a:rPr>
              <a:t>Good</a:t>
            </a:r>
            <a:r>
              <a:rPr lang="en-US" sz="1650" b="1" i="0" u="none" strike="noStrike" cap="none" dirty="0">
                <a:solidFill>
                  <a:srgbClr val="002B49"/>
                </a:solidFill>
                <a:latin typeface="Roboto"/>
                <a:ea typeface="Roboto"/>
                <a:cs typeface="Roboto"/>
                <a:sym typeface="Roboto"/>
              </a:rPr>
              <a:t> Model Efficacy</a:t>
            </a:r>
            <a:endParaRPr dirty="0"/>
          </a:p>
        </p:txBody>
      </p:sp>
      <p:sp>
        <p:nvSpPr>
          <p:cNvPr id="164" name="Google Shape;164;p17"/>
          <p:cNvSpPr txBox="1"/>
          <p:nvPr/>
        </p:nvSpPr>
        <p:spPr>
          <a:xfrm>
            <a:off x="1582789" y="4674393"/>
            <a:ext cx="981625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The SARIMA framework is effective for short-term forecasting, with RMSE values below 0.3% across all regions. </a:t>
            </a:r>
            <a:endParaRPr dirty="0"/>
          </a:p>
        </p:txBody>
      </p:sp>
      <p:pic>
        <p:nvPicPr>
          <p:cNvPr id="2" name="Google Shape;153;p17" descr="image.png">
            <a:extLst>
              <a:ext uri="{FF2B5EF4-FFF2-40B4-BE49-F238E27FC236}">
                <a16:creationId xmlns:a16="http://schemas.microsoft.com/office/drawing/2014/main" id="{3A1A371B-0F6C-A427-5E95-33629346D0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362569"/>
            <a:ext cx="11049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3;p17">
            <a:extLst>
              <a:ext uri="{FF2B5EF4-FFF2-40B4-BE49-F238E27FC236}">
                <a16:creationId xmlns:a16="http://schemas.microsoft.com/office/drawing/2014/main" id="{BF3FCEF6-870F-66F3-BD5C-089A4B53C62D}"/>
              </a:ext>
            </a:extLst>
          </p:cNvPr>
          <p:cNvSpPr txBox="1"/>
          <p:nvPr/>
        </p:nvSpPr>
        <p:spPr>
          <a:xfrm>
            <a:off x="1582789" y="5617365"/>
            <a:ext cx="1030706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002B49"/>
                </a:solidFill>
                <a:latin typeface="Roboto"/>
                <a:ea typeface="Roboto"/>
                <a:cs typeface="Roboto"/>
                <a:sym typeface="Roboto"/>
              </a:rPr>
              <a:t>Further work</a:t>
            </a:r>
            <a:endParaRPr dirty="0"/>
          </a:p>
        </p:txBody>
      </p:sp>
      <p:sp>
        <p:nvSpPr>
          <p:cNvPr id="5" name="Google Shape;164;p17">
            <a:extLst>
              <a:ext uri="{FF2B5EF4-FFF2-40B4-BE49-F238E27FC236}">
                <a16:creationId xmlns:a16="http://schemas.microsoft.com/office/drawing/2014/main" id="{7B94F045-56BE-0C50-5503-43CD3071889A}"/>
              </a:ext>
            </a:extLst>
          </p:cNvPr>
          <p:cNvSpPr txBox="1"/>
          <p:nvPr/>
        </p:nvSpPr>
        <p:spPr>
          <a:xfrm>
            <a:off x="1582789" y="5903115"/>
            <a:ext cx="9816256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Global Financial Crisis (2008-9) and Covid (2020-22) could have had distortion effects, consider regime-switching models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Consider incorporating exogenous variables and multivariate approach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E264247-9C16-04A6-0E35-C21EF4AA6F41}"/>
              </a:ext>
            </a:extLst>
          </p:cNvPr>
          <p:cNvSpPr/>
          <p:nvPr/>
        </p:nvSpPr>
        <p:spPr>
          <a:xfrm>
            <a:off x="954434" y="5679281"/>
            <a:ext cx="387623" cy="192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492</Words>
  <Application>Microsoft Office PowerPoint</Application>
  <PresentationFormat>Widescreen</PresentationFormat>
  <Paragraphs>73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Roboto Light</vt:lpstr>
      <vt:lpstr>Playfair Display</vt:lpstr>
      <vt:lpstr>Courier New</vt:lpstr>
      <vt:lpstr>Calibri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Brian Hu</dc:creator>
  <cp:lastModifiedBy>Brian Hu</cp:lastModifiedBy>
  <cp:revision>2</cp:revision>
  <dcterms:modified xsi:type="dcterms:W3CDTF">2026-01-02T07:37:08Z</dcterms:modified>
</cp:coreProperties>
</file>